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1" r:id="rId4"/>
    <p:sldId id="268" r:id="rId5"/>
    <p:sldId id="269" r:id="rId6"/>
    <p:sldId id="260" r:id="rId7"/>
    <p:sldId id="270" r:id="rId8"/>
    <p:sldId id="272" r:id="rId9"/>
    <p:sldId id="273" r:id="rId10"/>
    <p:sldId id="262" r:id="rId11"/>
    <p:sldId id="265" r:id="rId12"/>
    <p:sldId id="26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6DF90-D96B-4A87-9D8F-027233DFC2A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8DC62-EFBD-432A-9BD2-923B8E5AB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89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8DC62-EFBD-432A-9BD2-923B8E5AB47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2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346B-A300-6ABB-2A6B-7B2F3458F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47280-3B4E-1CD4-1D05-22D83480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81AE-2E37-67DA-83BD-D6893E30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ECEF-5221-B734-A1F2-F85C107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47F1-8BB6-F7C6-86C3-CBB30AE2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9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D34A-9B5E-ED11-002C-AEC2EC01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3528-11E8-CBCC-689F-C92509C7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3807-4416-2C3C-67B9-51EF8658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F237-8C9E-8457-01B3-155BB08A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2A0B2-DE1C-DF02-2FCB-0D213E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7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EF4A-9D62-A9E3-5199-0AF8C54B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D8BB5-7155-6722-7673-85F522092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C6DF3-DBAC-29CB-8882-E2EC172F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D9F55-E5E5-E445-B801-95FCA91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FE918-98F7-EA64-518B-7EEBCEBB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6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FBC2-C1EC-117A-5E70-A9F4BDF1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5218-07A5-2A49-B074-815C7B999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C8EC-8D71-9BFC-9FAD-79C64E599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4EE3F-1E41-1FBF-1E19-A8850257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FB1F3-8979-3C31-13E7-76C4B196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9A289-6E1E-A70D-2612-7E8F6212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ED10-6C7A-BF11-1D65-30920801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91354-6FBD-F3AE-0864-F42B4AC1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8810F-9CFB-18BC-C1A2-5E44967E4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1CAC3-A3EF-9A8B-9188-D9A116213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F29AD-68D3-0F9E-851A-64F180760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6F5E7-5296-68D1-EEBB-D302E513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4E794-22B8-B7BF-2CDB-DD22A84D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B0B55-4F87-C73A-B838-5B99F553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5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61DD-8053-3225-19EE-56C0C28D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8F29C-1F83-17E9-7068-FA0E46F1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34B14-1227-33CF-2B00-ECCFAAA2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8CACD-20C3-E6D5-5A37-8C5D4D97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0A54B-188B-E9F7-6E75-0BFD561F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20F23-04C0-8FE1-A1A5-ABAD605B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FF99B-D2EA-5608-9643-186B3702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9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7E00-9D1F-7D84-C829-F4398DFA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1448-1553-A19A-98DC-523929D6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C721E-2B25-AD77-63C4-A61BED051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63C22-7474-C49C-BF32-A4624FE9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4C2BF-1927-5814-AA22-EF0D6A48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A6CA-4918-556C-D33E-8B7629D9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6DE7-E7D0-D097-2FC0-9B34ECF5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8461-8E34-8390-C226-AEE95ABF1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41157-B4CD-C91B-C761-79B2BB08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99094-32F7-AFDD-75C9-A754B38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6191-FD84-09CE-4A37-7D18C125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E7A2B-B0AF-8219-5AB2-41C3FCFF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8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1E7C-4C05-FD88-B6E1-E5110FB4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64D44-9520-BC0F-4849-5358ED14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D94F-0FD2-C674-667F-FF0574A5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120F8-FE79-9B8D-3D5D-EAB034C1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F1E2-FA38-6278-3BE8-272ADEAD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3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6F8D1-5789-6034-DE61-27BED005B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AD657-1456-1622-AABB-F4FBF46BC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0FD0-1F34-93D8-8C49-61281D80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5366-573A-4AC7-796C-8651AF4F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2D73-4C73-1D35-2FFB-FB2A7BD6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95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EF7E1-BE0A-3B8C-7CF1-660D93D0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23ECD-5842-9402-B285-56E4D6B2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D9E7-C8B3-F71F-38FA-22C8A596E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B6846-2CD3-48A4-A3BF-085B63675F5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6071-8E5F-5A95-BC0B-A7EE59E40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4D61-3432-F580-FD41-DB591D13A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2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4535-77B2-B96B-E1AC-A0F7F8BF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067A-3872-0170-42F2-2A0A154AE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9819D-9AE4-1786-F069-A0431F358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7" y="1465006"/>
            <a:ext cx="11464413" cy="50144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VISUALIZATION(24DSB3101)</a:t>
            </a: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AI Framework for Multimodal Big Data Analytics in Smart Transportation Systems</a:t>
            </a: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12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2420030554 – Y. Paavana Pranavasri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2420030394 – K. Bhavya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2420030416 – A. Divya Sree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2420030677 – J. Sree Vardhini</a:t>
            </a:r>
          </a:p>
          <a:p>
            <a:pPr algn="l">
              <a:lnSpc>
                <a:spcPct val="100000"/>
              </a:lnSpc>
            </a:pP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CEF18-29FE-FD8E-EADF-E065494A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5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6C8E-74D4-56A0-1C92-DC5AFCE7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4D23-FC44-CA2A-7A31-322002B9A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A8570-8B49-497E-BB5D-7C85C0AD2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140899-F82B-8F71-68B2-CEBBE5E6CCB1}"/>
              </a:ext>
            </a:extLst>
          </p:cNvPr>
          <p:cNvSpPr txBox="1"/>
          <p:nvPr/>
        </p:nvSpPr>
        <p:spPr>
          <a:xfrm>
            <a:off x="275303" y="1445342"/>
            <a:ext cx="11621729" cy="481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transportation systems generate large and complex datasets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 services, road accidents, and climate/weather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transportation analytics often examine these data sources independently, making it difficult to identify relationships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patterns, road safety, and environmental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machine-learning models can provide useful predictions and insights, but complex models may operate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 the factors influencing their predictions.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Big Data Analytics and Explainable AI (XAI)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transportation and road-safety data while providing understandable insights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and smarter transportation planning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97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A8BB-6655-323C-BD59-3864881B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0FD0-92BE-DD79-0048-82D2A7F1F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F87CF-47F8-0BA7-393E-9224B3A6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6DCC08-59FF-F838-F834-C9C56C71F7DE}"/>
              </a:ext>
            </a:extLst>
          </p:cNvPr>
          <p:cNvSpPr txBox="1"/>
          <p:nvPr/>
        </p:nvSpPr>
        <p:spPr>
          <a:xfrm>
            <a:off x="275303" y="1445342"/>
            <a:ext cx="1162172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Objectives:</a:t>
            </a:r>
          </a:p>
          <a:p>
            <a:endParaRPr lang="en-IN" sz="20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integrated data analytics framework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transport, road accident, and climate/weather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transportation, road-safety, and environmental trends, patterns, relationships, and risk factors through data analysis and visualization.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ensemble layer using complementary predictive models.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SHAP, and LIME techniques to predict transportation/road-safety outcomes and provide meaningful explanations of model predictions.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and explainability to identify important factors influencing transportation and road-safety predictions and support informed decision-making.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8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83F16-FF99-D9A9-4AF6-F3F77C1B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75DE-6725-7337-056D-0789162B6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F2BA3-24CD-CDEA-707B-09902989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3" y="265473"/>
            <a:ext cx="12192000" cy="796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5E441-35B3-C3A3-FB5C-1FC33DE55519}"/>
              </a:ext>
            </a:extLst>
          </p:cNvPr>
          <p:cNvSpPr txBox="1"/>
          <p:nvPr/>
        </p:nvSpPr>
        <p:spPr>
          <a:xfrm>
            <a:off x="285135" y="1160207"/>
            <a:ext cx="11621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 Papers 1 to 5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55A210-7F5F-DC77-2DA6-E1AC5025F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564136"/>
              </p:ext>
            </p:extLst>
          </p:nvPr>
        </p:nvGraphicFramePr>
        <p:xfrm>
          <a:off x="457199" y="1642459"/>
          <a:ext cx="11257936" cy="50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484">
                  <a:extLst>
                    <a:ext uri="{9D8B030D-6E8A-4147-A177-3AD203B41FA5}">
                      <a16:colId xmlns:a16="http://schemas.microsoft.com/office/drawing/2014/main" val="1819813229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1064705563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4032885028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709835078"/>
                    </a:ext>
                  </a:extLst>
                </a:gridCol>
              </a:tblGrid>
              <a:tr h="66890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00698"/>
                  </a:ext>
                </a:extLst>
              </a:tr>
              <a:tr h="943603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Automated Approach for Predicting Road Traffic Accident Severity Using Transformer Learning and Explainable AI Technique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Transfer Learning with SHAP for crash severity prediction and identifies important environmental and roadway factors.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primarily on US highway crash data; lacks long-term climate variables.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20911"/>
                  </a:ext>
                </a:extLst>
              </a:tr>
              <a:tr h="837524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Explainable Machine Learning Approach to Traffic Accident Fatality Prediction in Dhaka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Peer-Reviewed Preprints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Random Forest, </a:t>
                      </a:r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SHAP to identify major factors influencing accident fatality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urban metropolitan crash data without incorporating multi-decade daily rainfall/weather trends.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727666"/>
                  </a:ext>
                </a:extLst>
              </a:tr>
              <a:tr h="668905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Traffic Accident Severity Prediction: Feature Identification Using Explainable AI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Applied Sciences / Computer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Random Forest and LIME to provide global feature ranking and local explanations for accident severity.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Relies heavily on static crash characteristics rather than integrating public transport operational feeds.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76987691"/>
                  </a:ext>
                </a:extLst>
              </a:tr>
              <a:tr h="837524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Explainable Multi-Task Deep Learning Framework for Crash Severity Prediction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PMC / Scientific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multi-task deep learning and SHAP to predict fatalities, injuries, and property loss using multiple data sources.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neural network architecture creates high computational overhead for interactive real-time deployment.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27901"/>
                  </a:ext>
                </a:extLst>
              </a:tr>
              <a:tr h="668905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Traffic Accident Injury Severity Using Ensemble Machine Learning Architectures and SHAP Analysis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PMC / Scientific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ensemble machine learning and SHAP to predict injury severity and explain individual crash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solely on injury severity outcome without integrating public transit flow or weather anomaly metrics.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2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78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DB1F-7C19-5F36-797D-B99592E0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E0BB-2965-06C9-993F-4491967FE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610B9-09DC-9810-E370-8D7F86C8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3" y="265473"/>
            <a:ext cx="12192000" cy="796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49FF0-7E6F-A3BD-6524-46FA51036897}"/>
              </a:ext>
            </a:extLst>
          </p:cNvPr>
          <p:cNvSpPr txBox="1"/>
          <p:nvPr/>
        </p:nvSpPr>
        <p:spPr>
          <a:xfrm>
            <a:off x="285135" y="1160207"/>
            <a:ext cx="11621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 Papers 6 to 10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F8BC3F-DA3E-E753-EEA5-A27063A7D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80375"/>
              </p:ext>
            </p:extLst>
          </p:nvPr>
        </p:nvGraphicFramePr>
        <p:xfrm>
          <a:off x="467031" y="1632627"/>
          <a:ext cx="11257936" cy="5111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484">
                  <a:extLst>
                    <a:ext uri="{9D8B030D-6E8A-4147-A177-3AD203B41FA5}">
                      <a16:colId xmlns:a16="http://schemas.microsoft.com/office/drawing/2014/main" val="1819813229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1064705563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4032885028"/>
                    </a:ext>
                  </a:extLst>
                </a:gridCol>
                <a:gridCol w="2814484">
                  <a:extLst>
                    <a:ext uri="{9D8B030D-6E8A-4147-A177-3AD203B41FA5}">
                      <a16:colId xmlns:a16="http://schemas.microsoft.com/office/drawing/2014/main" val="709835078"/>
                    </a:ext>
                  </a:extLst>
                </a:gridCol>
              </a:tblGrid>
              <a:tr h="66890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00698"/>
                  </a:ext>
                </a:extLst>
              </a:tr>
              <a:tr h="953435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Techniques for Interpretable Traffic Prediction Models in Safety-Critical Transportation Systems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Gate/ Transportation Systems</a:t>
                      </a:r>
                    </a:p>
                    <a:p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GCN, attention mechanisms, ensemble models, and SHAP to identify important factors in traffic risk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dependence on temporal features with limited multi-source data fusion from weather datasets.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20911"/>
                  </a:ext>
                </a:extLst>
              </a:tr>
              <a:tr h="83752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Hybrid XAI Solution for Autonomous Vehicles: Real-Time Traffic Risk &amp; Safety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(2026)</a:t>
                      </a:r>
                      <a:endParaRPr lang="en-IN" sz="13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machine learning and real-time XAI to provide human-interpretable traffic safety risk explanations.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vehicle-level edge devices rather than regional smart city dashboard networks.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727666"/>
                  </a:ext>
                </a:extLst>
              </a:tr>
              <a:tr h="668905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Explainable Artificial Intelligence (XAI) Based Driver Fatigue Detection Framework 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IJES / Safety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tree ensembles, LIME, and SHAP to provide transparent explanations for driver risk events.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Concentrates on individual driver behavior rather than macro road network accidents and weather conditions.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7691"/>
                  </a:ext>
                </a:extLst>
              </a:tr>
              <a:tr h="83752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tree ensembles, LIME, and SHAP to provide transparent explanations for driver risk events.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  <a:endParaRPr lang="en-IN" sz="13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Conference Proceedings</a:t>
                      </a:r>
                    </a:p>
                    <a:p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Decision Trees, Random Forest, and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traffic accident severity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as a pure black-box model without SHAP/LIME explainability integration.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27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 for Climate-Resilient Urban Transportation Networks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lang="en-IN" sz="13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Operations &amp; Transport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PySpark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Random Forest, and time-series models to analyze weather data and identify vulnerable transportation corridors.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an interactive user dashboard for real-time risk simulation and local XAI explanations.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2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11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F30E-0868-8DD3-1239-0678059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EFF-AED1-8F7C-F9BD-4E664E77C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7D374-406B-950E-C52F-8F410C04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C1FE44-BE37-8D0A-E331-80ED3F206965}"/>
              </a:ext>
            </a:extLst>
          </p:cNvPr>
          <p:cNvSpPr txBox="1"/>
          <p:nvPr/>
        </p:nvSpPr>
        <p:spPr>
          <a:xfrm>
            <a:off x="275303" y="1445342"/>
            <a:ext cx="114644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Identification: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1 – Lack of Integrated Data Analysis: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often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transport, road accident, and climate/weather data separately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 relationships between transportation, road safety, and environmental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2 – Limited Identification of Combined Risk Factors: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have limited focus on identifying and visualizing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transportation, road-safety, and environmental patterns and risk factors together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3 – Lack of Explainable AI Integration: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transportation AI models focus on prediction accuracy and may operate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 which factors influence their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4 – Limited Evaluation of Prediction and Explainability: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gives less attention to evaluating both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and explainability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to determine the most effective approach for transportation decision-making.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2293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3235D-36D7-E72A-0ECA-0F3082EB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02E3-6472-6C73-26A9-DEC78F01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693" y="1950758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 Unified Big Data &amp; Explainable AI Framework</a:t>
            </a:r>
            <a:br>
              <a:rPr lang="en-US" sz="3200" b="1" dirty="0"/>
            </a:b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042BE-6FE7-7C7A-3FA0-538C7F975F38}"/>
              </a:ext>
            </a:extLst>
          </p:cNvPr>
          <p:cNvSpPr txBox="1"/>
          <p:nvPr/>
        </p:nvSpPr>
        <p:spPr>
          <a:xfrm>
            <a:off x="876693" y="3429000"/>
            <a:ext cx="3214661" cy="2620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multimodal transportation, accident, and climate data to predict transport risk and explain the environmental and operational factors influencing each prediction.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37ABFB-E10F-0EC0-CD1A-40179E870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61" y="2167108"/>
            <a:ext cx="6389346" cy="349816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1209367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D265F25-6C7B-0C70-4FB5-B75D12DC9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9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7083-B896-9244-14FC-1B7BDB39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0498-8239-CF14-8CC6-F3881B38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74325-6718-F4CC-1227-204A6461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41289A-BE58-3BAF-0716-F86CBBA82A6E}"/>
              </a:ext>
            </a:extLst>
          </p:cNvPr>
          <p:cNvSpPr txBox="1"/>
          <p:nvPr/>
        </p:nvSpPr>
        <p:spPr>
          <a:xfrm>
            <a:off x="275303" y="1445342"/>
            <a:ext cx="114644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6E1684-7F0B-BDBB-36AB-E50AD7E63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503254"/>
              </p:ext>
            </p:extLst>
          </p:nvPr>
        </p:nvGraphicFramePr>
        <p:xfrm>
          <a:off x="1129323" y="2260950"/>
          <a:ext cx="9960708" cy="436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71">
                  <a:extLst>
                    <a:ext uri="{9D8B030D-6E8A-4147-A177-3AD203B41FA5}">
                      <a16:colId xmlns:a16="http://schemas.microsoft.com/office/drawing/2014/main" val="4038159008"/>
                    </a:ext>
                  </a:extLst>
                </a:gridCol>
                <a:gridCol w="7767437">
                  <a:extLst>
                    <a:ext uri="{9D8B030D-6E8A-4147-A177-3AD203B41FA5}">
                      <a16:colId xmlns:a16="http://schemas.microsoft.com/office/drawing/2014/main" val="4016846759"/>
                    </a:ext>
                  </a:extLst>
                </a:gridCol>
              </a:tblGrid>
              <a:tr h="6274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Assessment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309491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Open benchmark datasets available: Public Transport feeds, Road Accidents in India (2023), and Climate in India Daily Weather Data (2000–2024).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991885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Programming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Standard Python data science ecosystem (Pandas, NumPy, Scikit-Learn, SciPy).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046435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 &amp; XAI Libraries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Well-supported packages available (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SHAP, LIME).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824377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Big Data Processing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Efficient handling via Pandas/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Dask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scalable to 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PySpark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if data volumes exceed system memory.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451134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or Power BI for rapid interactive dashboard deployment.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36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87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54A8-7132-9FA5-728C-3E7EEB97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7AE4-E3D5-D8D0-DC46-7784671D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D9B33-6D6C-6E2C-CBFF-82C89341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396882-AED7-0354-6DBE-AFDE67727E34}"/>
              </a:ext>
            </a:extLst>
          </p:cNvPr>
          <p:cNvSpPr txBox="1"/>
          <p:nvPr/>
        </p:nvSpPr>
        <p:spPr>
          <a:xfrm>
            <a:off x="275303" y="1445342"/>
            <a:ext cx="114644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D5323C-FB53-9EB9-E71C-C18534C8A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22899"/>
              </p:ext>
            </p:extLst>
          </p:nvPr>
        </p:nvGraphicFramePr>
        <p:xfrm>
          <a:off x="1129323" y="2260950"/>
          <a:ext cx="9960708" cy="2656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71">
                  <a:extLst>
                    <a:ext uri="{9D8B030D-6E8A-4147-A177-3AD203B41FA5}">
                      <a16:colId xmlns:a16="http://schemas.microsoft.com/office/drawing/2014/main" val="4038159008"/>
                    </a:ext>
                  </a:extLst>
                </a:gridCol>
                <a:gridCol w="7767437">
                  <a:extLst>
                    <a:ext uri="{9D8B030D-6E8A-4147-A177-3AD203B41FA5}">
                      <a16:colId xmlns:a16="http://schemas.microsoft.com/office/drawing/2014/main" val="4016846759"/>
                    </a:ext>
                  </a:extLst>
                </a:gridCol>
              </a:tblGrid>
              <a:tr h="6274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Assessment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309491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Normal laptop (16GB RAM) or standard free GPU/TPU environments like Google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991885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100% open-source software stack and publicly accessible open data.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046435"/>
                  </a:ext>
                </a:extLst>
              </a:tr>
              <a:tr h="627452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Timeline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High. Modular phase-by-phase execution easily achievable within a standard semester sequence.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82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08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3BE5-8847-DB74-2A60-4A7ADCBE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81BA-35D5-5274-F631-1D783B07D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ACB53-CE5E-7C96-1091-A4F3EE71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0BDBC-99E3-2D92-00A3-EB2C60E48851}"/>
              </a:ext>
            </a:extLst>
          </p:cNvPr>
          <p:cNvSpPr txBox="1"/>
          <p:nvPr/>
        </p:nvSpPr>
        <p:spPr>
          <a:xfrm>
            <a:off x="275303" y="1445342"/>
            <a:ext cx="1162172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497D53-E059-F918-034B-E9724AC00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44" y="1840523"/>
            <a:ext cx="10386646" cy="46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8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F4E7-0B36-EB1D-1B5A-CA4AB0BB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EA11-79B7-327D-14A3-90EF6C31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0C17A-C1F2-3B3D-CBAA-99F0A32CB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16CA3-25A1-45EF-692E-5F7BF2662C69}"/>
              </a:ext>
            </a:extLst>
          </p:cNvPr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and Its Uniqueness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4B8AE-5895-44DD-762D-C686E5B4B509}"/>
              </a:ext>
            </a:extLst>
          </p:cNvPr>
          <p:cNvSpPr txBox="1"/>
          <p:nvPr/>
        </p:nvSpPr>
        <p:spPr>
          <a:xfrm>
            <a:off x="452285" y="1681316"/>
            <a:ext cx="50439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Combines public transportation, road accident, and climate/weather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integrated system.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Uses multiple transportation, safety, and environmental factors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focusing on a single transportation problem.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Integrates Big Data Analytics + Machine Learning + Explainable AI (XAI)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transportation analysis.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Provides explanations for predictions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which transportation, accident, and environmental factors contribute to the predicted outcome.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Aims to provide transportation and road-safety insights through interactive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smarter planning, safer roads, better mobility, and informed decision-making.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B4C9B0-B9E8-91DC-1190-E6522BA7F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890" y="1356851"/>
            <a:ext cx="6018571" cy="457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1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5C4F-1BE8-B335-F52A-6D7ECAB0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57C1-1F23-032F-3DE7-FB7A1CB7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0A3CF-0FD1-3AE1-D684-DAED4553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22584-9AF2-2FF3-0686-83D81B120EE4}"/>
              </a:ext>
            </a:extLst>
          </p:cNvPr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74A86-9B3B-2166-378D-A2635D863014}"/>
              </a:ext>
            </a:extLst>
          </p:cNvPr>
          <p:cNvSpPr txBox="1"/>
          <p:nvPr/>
        </p:nvSpPr>
        <p:spPr>
          <a:xfrm>
            <a:off x="452284" y="1681316"/>
            <a:ext cx="1154307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Hassan et al.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machine learning in intelligent transport systems: A comprehensive review and bibliometric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Civil Engineering, Springer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Akin,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Canbay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Sagiroglu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geo-independent and privacy-preserved traffic speed prediction framework based on deep learning for intelligent transportation systems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Journal of Supercomputing, Springer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Rocco di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Torrepadula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(2025),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Fedflow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personalized federated learning framework for passenger flow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Springer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Alam et al.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machine learning models for taxi-demand prediction using a big data framework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Transport, Springer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Leinonen et al.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 Term Memory Based Traffic Prediction Using Multi-Source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Transportation Systems Research, Springer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Abdulrashid et al.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interpretable machine learning framework for enhancing road transportation safety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Part 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Abdulrashid et al. (2025),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government interventions in pandemics: A hybrid explainable machine learning for road safety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Part 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 et al. (2026),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Prediction to Prevention: Using Text Mining and Explainable Machine Learning for Urban Bus Accident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Abid et al. (2026),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road safety in smart cities using machine learning techniques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Pathak &amp; Chatterjee (2026),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machine learning, and deep learning in intelligent transportation systems: A review for smart cities and sustainable mobility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Applied Resilience and Sustainability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793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B70C-0909-701E-B9AF-480E5FF1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CB40-A5A6-A7D0-1FA3-796A40340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BF7EC-3EA7-2A69-7F10-A930A5E46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EDBB57-8CE5-332F-2CF6-247290353016}"/>
              </a:ext>
            </a:extLst>
          </p:cNvPr>
          <p:cNvSpPr txBox="1"/>
          <p:nvPr/>
        </p:nvSpPr>
        <p:spPr>
          <a:xfrm>
            <a:off x="383457" y="1209368"/>
            <a:ext cx="116217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23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1566</Words>
  <Application>Microsoft Office PowerPoint</Application>
  <PresentationFormat>Widescreen</PresentationFormat>
  <Paragraphs>150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PowerPoint Presentation</vt:lpstr>
      <vt:lpstr>PowerPoint Presentation</vt:lpstr>
      <vt:lpstr>PowerPoint Presentation</vt:lpstr>
      <vt:lpstr>Innovation: Unified Big Data &amp; Explainable AI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Kruthi</dc:creator>
  <cp:lastModifiedBy>Paavana Pranavasri Yalla</cp:lastModifiedBy>
  <cp:revision>13</cp:revision>
  <dcterms:created xsi:type="dcterms:W3CDTF">2026-08-11T15:03:11Z</dcterms:created>
  <dcterms:modified xsi:type="dcterms:W3CDTF">2026-09-21T05:12:11Z</dcterms:modified>
</cp:coreProperties>
</file>